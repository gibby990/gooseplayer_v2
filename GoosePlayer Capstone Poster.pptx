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
  </p:notesMasterIdLst>
  <p:sldIdLst>
    <p:sldId id="256"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B541"/>
    <a:srgbClr val="FFCA56"/>
    <a:srgbClr val="E95526"/>
    <a:srgbClr val="B9CFE2"/>
    <a:srgbClr val="598DB6"/>
    <a:srgbClr val="002E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26" d="100"/>
          <a:sy n="26" d="100"/>
        </p:scale>
        <p:origin x="134" y="22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8A0890-A4F9-4722-A057-1A216EEE7AC4}" type="datetimeFigureOut">
              <a:rPr lang="en-US" smtClean="0"/>
              <a:t>12/3/2025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3BEAFE-1FA0-4163-84D8-159CFC85073E}" type="slidenum">
              <a:rPr lang="en-US" smtClean="0"/>
              <a:t>‹#›</a:t>
            </a:fld>
            <a:endParaRPr lang="en-US"/>
          </a:p>
        </p:txBody>
      </p:sp>
    </p:spTree>
    <p:extLst>
      <p:ext uri="{BB962C8B-B14F-4D97-AF65-F5344CB8AC3E}">
        <p14:creationId xmlns:p14="http://schemas.microsoft.com/office/powerpoint/2010/main" val="1899910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83BEAFE-1FA0-4163-84D8-159CFC85073E}" type="slidenum">
              <a:rPr lang="en-US" smtClean="0"/>
              <a:t>1</a:t>
            </a:fld>
            <a:endParaRPr lang="en-US"/>
          </a:p>
        </p:txBody>
      </p:sp>
    </p:spTree>
    <p:extLst>
      <p:ext uri="{BB962C8B-B14F-4D97-AF65-F5344CB8AC3E}">
        <p14:creationId xmlns:p14="http://schemas.microsoft.com/office/powerpoint/2010/main" val="31066682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92A266-7876-4A8D-ABCB-8597F30DA5F6}"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38D879-3608-4AF5-8E2A-CF24D06DA656}" type="slidenum">
              <a:rPr lang="en-US" smtClean="0"/>
              <a:t>‹#›</a:t>
            </a:fld>
            <a:endParaRPr lang="en-US"/>
          </a:p>
        </p:txBody>
      </p:sp>
    </p:spTree>
    <p:extLst>
      <p:ext uri="{BB962C8B-B14F-4D97-AF65-F5344CB8AC3E}">
        <p14:creationId xmlns:p14="http://schemas.microsoft.com/office/powerpoint/2010/main" val="3819048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92A266-7876-4A8D-ABCB-8597F30DA5F6}"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38D879-3608-4AF5-8E2A-CF24D06DA656}" type="slidenum">
              <a:rPr lang="en-US" smtClean="0"/>
              <a:t>‹#›</a:t>
            </a:fld>
            <a:endParaRPr lang="en-US"/>
          </a:p>
        </p:txBody>
      </p:sp>
    </p:spTree>
    <p:extLst>
      <p:ext uri="{BB962C8B-B14F-4D97-AF65-F5344CB8AC3E}">
        <p14:creationId xmlns:p14="http://schemas.microsoft.com/office/powerpoint/2010/main" val="2046142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tint val="82000"/>
                  </a:schemeClr>
                </a:solidFill>
              </a:defRPr>
            </a:lvl1pPr>
            <a:lvl2pPr marL="2194560" indent="0">
              <a:buNone/>
              <a:defRPr sz="9600">
                <a:solidFill>
                  <a:schemeClr val="tx1">
                    <a:tint val="82000"/>
                  </a:schemeClr>
                </a:solidFill>
              </a:defRPr>
            </a:lvl2pPr>
            <a:lvl3pPr marL="4389120" indent="0">
              <a:buNone/>
              <a:defRPr sz="8640">
                <a:solidFill>
                  <a:schemeClr val="tx1">
                    <a:tint val="82000"/>
                  </a:schemeClr>
                </a:solidFill>
              </a:defRPr>
            </a:lvl3pPr>
            <a:lvl4pPr marL="6583680" indent="0">
              <a:buNone/>
              <a:defRPr sz="7680">
                <a:solidFill>
                  <a:schemeClr val="tx1">
                    <a:tint val="82000"/>
                  </a:schemeClr>
                </a:solidFill>
              </a:defRPr>
            </a:lvl4pPr>
            <a:lvl5pPr marL="8778240" indent="0">
              <a:buNone/>
              <a:defRPr sz="7680">
                <a:solidFill>
                  <a:schemeClr val="tx1">
                    <a:tint val="82000"/>
                  </a:schemeClr>
                </a:solidFill>
              </a:defRPr>
            </a:lvl5pPr>
            <a:lvl6pPr marL="10972800" indent="0">
              <a:buNone/>
              <a:defRPr sz="7680">
                <a:solidFill>
                  <a:schemeClr val="tx1">
                    <a:tint val="82000"/>
                  </a:schemeClr>
                </a:solidFill>
              </a:defRPr>
            </a:lvl6pPr>
            <a:lvl7pPr marL="13167360" indent="0">
              <a:buNone/>
              <a:defRPr sz="7680">
                <a:solidFill>
                  <a:schemeClr val="tx1">
                    <a:tint val="82000"/>
                  </a:schemeClr>
                </a:solidFill>
              </a:defRPr>
            </a:lvl7pPr>
            <a:lvl8pPr marL="15361920" indent="0">
              <a:buNone/>
              <a:defRPr sz="7680">
                <a:solidFill>
                  <a:schemeClr val="tx1">
                    <a:tint val="82000"/>
                  </a:schemeClr>
                </a:solidFill>
              </a:defRPr>
            </a:lvl8pPr>
            <a:lvl9pPr marL="17556480" indent="0">
              <a:buNone/>
              <a:defRPr sz="768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92A266-7876-4A8D-ABCB-8597F30DA5F6}"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38D879-3608-4AF5-8E2A-CF24D06DA656}" type="slidenum">
              <a:rPr lang="en-US" smtClean="0"/>
              <a:t>‹#›</a:t>
            </a:fld>
            <a:endParaRPr lang="en-US"/>
          </a:p>
        </p:txBody>
      </p:sp>
    </p:spTree>
    <p:extLst>
      <p:ext uri="{BB962C8B-B14F-4D97-AF65-F5344CB8AC3E}">
        <p14:creationId xmlns:p14="http://schemas.microsoft.com/office/powerpoint/2010/main" val="3743876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92A266-7876-4A8D-ABCB-8597F30DA5F6}"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38D879-3608-4AF5-8E2A-CF24D06DA656}" type="slidenum">
              <a:rPr lang="en-US" smtClean="0"/>
              <a:t>‹#›</a:t>
            </a:fld>
            <a:endParaRPr lang="en-US"/>
          </a:p>
        </p:txBody>
      </p:sp>
    </p:spTree>
    <p:extLst>
      <p:ext uri="{BB962C8B-B14F-4D97-AF65-F5344CB8AC3E}">
        <p14:creationId xmlns:p14="http://schemas.microsoft.com/office/powerpoint/2010/main" val="419431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92A266-7876-4A8D-ABCB-8597F30DA5F6}" type="datetimeFigureOut">
              <a:rPr lang="en-US" smtClean="0"/>
              <a:t>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38D879-3608-4AF5-8E2A-CF24D06DA656}" type="slidenum">
              <a:rPr lang="en-US" smtClean="0"/>
              <a:t>‹#›</a:t>
            </a:fld>
            <a:endParaRPr lang="en-US"/>
          </a:p>
        </p:txBody>
      </p:sp>
    </p:spTree>
    <p:extLst>
      <p:ext uri="{BB962C8B-B14F-4D97-AF65-F5344CB8AC3E}">
        <p14:creationId xmlns:p14="http://schemas.microsoft.com/office/powerpoint/2010/main" val="10105634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A92A266-7876-4A8D-ABCB-8597F30DA5F6}" type="datetimeFigureOut">
              <a:rPr lang="en-US" smtClean="0"/>
              <a:t>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38D879-3608-4AF5-8E2A-CF24D06DA656}" type="slidenum">
              <a:rPr lang="en-US" smtClean="0"/>
              <a:t>‹#›</a:t>
            </a:fld>
            <a:endParaRPr lang="en-US"/>
          </a:p>
        </p:txBody>
      </p:sp>
    </p:spTree>
    <p:extLst>
      <p:ext uri="{BB962C8B-B14F-4D97-AF65-F5344CB8AC3E}">
        <p14:creationId xmlns:p14="http://schemas.microsoft.com/office/powerpoint/2010/main" val="835035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92A266-7876-4A8D-ABCB-8597F30DA5F6}" type="datetimeFigureOut">
              <a:rPr lang="en-US" smtClean="0"/>
              <a:t>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38D879-3608-4AF5-8E2A-CF24D06DA656}" type="slidenum">
              <a:rPr lang="en-US" smtClean="0"/>
              <a:t>‹#›</a:t>
            </a:fld>
            <a:endParaRPr lang="en-US"/>
          </a:p>
        </p:txBody>
      </p:sp>
    </p:spTree>
    <p:extLst>
      <p:ext uri="{BB962C8B-B14F-4D97-AF65-F5344CB8AC3E}">
        <p14:creationId xmlns:p14="http://schemas.microsoft.com/office/powerpoint/2010/main" val="573792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4A92A266-7876-4A8D-ABCB-8597F30DA5F6}"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38D879-3608-4AF5-8E2A-CF24D06DA656}" type="slidenum">
              <a:rPr lang="en-US" smtClean="0"/>
              <a:t>‹#›</a:t>
            </a:fld>
            <a:endParaRPr lang="en-US"/>
          </a:p>
        </p:txBody>
      </p:sp>
    </p:spTree>
    <p:extLst>
      <p:ext uri="{BB962C8B-B14F-4D97-AF65-F5344CB8AC3E}">
        <p14:creationId xmlns:p14="http://schemas.microsoft.com/office/powerpoint/2010/main" val="1886792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4A92A266-7876-4A8D-ABCB-8597F30DA5F6}" type="datetimeFigureOut">
              <a:rPr lang="en-US" smtClean="0"/>
              <a:t>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38D879-3608-4AF5-8E2A-CF24D06DA656}" type="slidenum">
              <a:rPr lang="en-US" smtClean="0"/>
              <a:t>‹#›</a:t>
            </a:fld>
            <a:endParaRPr lang="en-US"/>
          </a:p>
        </p:txBody>
      </p:sp>
    </p:spTree>
    <p:extLst>
      <p:ext uri="{BB962C8B-B14F-4D97-AF65-F5344CB8AC3E}">
        <p14:creationId xmlns:p14="http://schemas.microsoft.com/office/powerpoint/2010/main" val="595335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92A266-7876-4A8D-ABCB-8597F30DA5F6}"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38D879-3608-4AF5-8E2A-CF24D06DA656}" type="slidenum">
              <a:rPr lang="en-US" smtClean="0"/>
              <a:t>‹#›</a:t>
            </a:fld>
            <a:endParaRPr lang="en-US"/>
          </a:p>
        </p:txBody>
      </p:sp>
    </p:spTree>
    <p:extLst>
      <p:ext uri="{BB962C8B-B14F-4D97-AF65-F5344CB8AC3E}">
        <p14:creationId xmlns:p14="http://schemas.microsoft.com/office/powerpoint/2010/main" val="2450748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92A266-7876-4A8D-ABCB-8597F30DA5F6}" type="datetimeFigureOut">
              <a:rPr lang="en-US" smtClean="0"/>
              <a:t>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38D879-3608-4AF5-8E2A-CF24D06DA656}" type="slidenum">
              <a:rPr lang="en-US" smtClean="0"/>
              <a:t>‹#›</a:t>
            </a:fld>
            <a:endParaRPr lang="en-US"/>
          </a:p>
        </p:txBody>
      </p:sp>
    </p:spTree>
    <p:extLst>
      <p:ext uri="{BB962C8B-B14F-4D97-AF65-F5344CB8AC3E}">
        <p14:creationId xmlns:p14="http://schemas.microsoft.com/office/powerpoint/2010/main" val="14625078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82000"/>
                  </a:schemeClr>
                </a:solidFill>
              </a:defRPr>
            </a:lvl1pPr>
          </a:lstStyle>
          <a:p>
            <a:fld id="{4A92A266-7876-4A8D-ABCB-8597F30DA5F6}" type="datetimeFigureOut">
              <a:rPr lang="en-US" smtClean="0"/>
              <a:t>12/3/2025</a:t>
            </a:fld>
            <a:endParaRPr lang="en-U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82000"/>
                  </a:schemeClr>
                </a:solidFill>
              </a:defRPr>
            </a:lvl1pPr>
          </a:lstStyle>
          <a:p>
            <a:fld id="{8438D879-3608-4AF5-8E2A-CF24D06DA656}" type="slidenum">
              <a:rPr lang="en-US" smtClean="0"/>
              <a:t>‹#›</a:t>
            </a:fld>
            <a:endParaRPr lang="en-US"/>
          </a:p>
        </p:txBody>
      </p:sp>
    </p:spTree>
    <p:extLst>
      <p:ext uri="{BB962C8B-B14F-4D97-AF65-F5344CB8AC3E}">
        <p14:creationId xmlns:p14="http://schemas.microsoft.com/office/powerpoint/2010/main" val="316360447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8340F2E-2C8F-61E4-3982-058FDB27BD11}"/>
              </a:ext>
            </a:extLst>
          </p:cNvPr>
          <p:cNvSpPr/>
          <p:nvPr/>
        </p:nvSpPr>
        <p:spPr>
          <a:xfrm>
            <a:off x="16808299" y="14895872"/>
            <a:ext cx="16501987" cy="9075761"/>
          </a:xfrm>
          <a:prstGeom prst="rect">
            <a:avLst/>
          </a:prstGeom>
          <a:solidFill>
            <a:srgbClr val="002E5E"/>
          </a:solidFill>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sz="9600" dirty="0">
                <a:latin typeface="Gibson"/>
              </a:rPr>
              <a:t>Testing &amp; Tools</a:t>
            </a:r>
          </a:p>
          <a:p>
            <a:r>
              <a:rPr lang="en-US" sz="6000" dirty="0">
                <a:latin typeface="Gibson"/>
              </a:rPr>
              <a:t>For testing we used multiple tools to create an elaborate set of regressive tests covering various cases of how the functions were being called and ensuring compliance.</a:t>
            </a:r>
          </a:p>
          <a:p>
            <a:pPr marL="857250" indent="-857250">
              <a:buFont typeface="Arial" panose="020B0604020202020204" pitchFamily="34" charset="0"/>
              <a:buChar char="•"/>
            </a:pPr>
            <a:r>
              <a:rPr lang="en-US" sz="6000" dirty="0">
                <a:latin typeface="Gibson"/>
              </a:rPr>
              <a:t>Junit 5 – Assertion and testing framework</a:t>
            </a:r>
          </a:p>
          <a:p>
            <a:pPr marL="857250" indent="-857250">
              <a:buFont typeface="Arial" panose="020B0604020202020204" pitchFamily="34" charset="0"/>
              <a:buChar char="•"/>
            </a:pPr>
            <a:r>
              <a:rPr lang="en-US" sz="6000" dirty="0">
                <a:latin typeface="Gibson"/>
              </a:rPr>
              <a:t>AssertJ Swing – UI interaction testing ability</a:t>
            </a:r>
          </a:p>
          <a:p>
            <a:pPr marL="857250" indent="-857250">
              <a:buFont typeface="Arial" panose="020B0604020202020204" pitchFamily="34" charset="0"/>
              <a:buChar char="•"/>
            </a:pPr>
            <a:r>
              <a:rPr lang="en-US" sz="6000" dirty="0">
                <a:latin typeface="Gibson"/>
              </a:rPr>
              <a:t>Mockito- Mocking objects handled by the player</a:t>
            </a:r>
          </a:p>
        </p:txBody>
      </p:sp>
      <p:sp>
        <p:nvSpPr>
          <p:cNvPr id="8" name="Rectangle 7">
            <a:extLst>
              <a:ext uri="{FF2B5EF4-FFF2-40B4-BE49-F238E27FC236}">
                <a16:creationId xmlns:a16="http://schemas.microsoft.com/office/drawing/2014/main" id="{A5881EC3-6297-3157-0386-57DC5254C16A}"/>
              </a:ext>
            </a:extLst>
          </p:cNvPr>
          <p:cNvSpPr/>
          <p:nvPr/>
        </p:nvSpPr>
        <p:spPr>
          <a:xfrm>
            <a:off x="388117" y="22644164"/>
            <a:ext cx="16032065" cy="9075761"/>
          </a:xfrm>
          <a:prstGeom prst="rect">
            <a:avLst/>
          </a:prstGeom>
          <a:solidFill>
            <a:srgbClr val="598DB6"/>
          </a:solidFill>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sz="9600" dirty="0">
                <a:latin typeface="Gibson"/>
              </a:rPr>
              <a:t>UI &amp; Themes</a:t>
            </a:r>
          </a:p>
          <a:p>
            <a:r>
              <a:rPr lang="en-US" sz="6000" dirty="0">
                <a:latin typeface="Gibson"/>
              </a:rPr>
              <a:t>We used </a:t>
            </a:r>
            <a:r>
              <a:rPr lang="en-US" sz="6000" dirty="0" err="1">
                <a:latin typeface="Gibson"/>
              </a:rPr>
              <a:t>FlatLaf</a:t>
            </a:r>
            <a:r>
              <a:rPr lang="en-US" sz="6000" dirty="0">
                <a:latin typeface="Gibson"/>
              </a:rPr>
              <a:t> with its IntelliJ themes add-on to give GoosePlayer2 a modern-looking interface. These additions replaced Swing's older style look-and-feel and provided light, dark, and high-contrast themes, along with rounded corners and modern component styling, for the user's choice. </a:t>
            </a:r>
          </a:p>
        </p:txBody>
      </p:sp>
      <p:sp>
        <p:nvSpPr>
          <p:cNvPr id="9" name="Rectangle 8">
            <a:extLst>
              <a:ext uri="{FF2B5EF4-FFF2-40B4-BE49-F238E27FC236}">
                <a16:creationId xmlns:a16="http://schemas.microsoft.com/office/drawing/2014/main" id="{DFD5AE65-A5ED-5944-B0BB-35AC930DE8E9}"/>
              </a:ext>
            </a:extLst>
          </p:cNvPr>
          <p:cNvSpPr/>
          <p:nvPr/>
        </p:nvSpPr>
        <p:spPr>
          <a:xfrm>
            <a:off x="388116" y="15154556"/>
            <a:ext cx="16032065" cy="6788471"/>
          </a:xfrm>
          <a:prstGeom prst="rect">
            <a:avLst/>
          </a:prstGeom>
          <a:solidFill>
            <a:srgbClr val="B9CFE2"/>
          </a:solidFill>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sz="9600" dirty="0">
                <a:solidFill>
                  <a:srgbClr val="002060"/>
                </a:solidFill>
                <a:latin typeface="Gibson"/>
              </a:rPr>
              <a:t>Design</a:t>
            </a:r>
          </a:p>
          <a:p>
            <a:r>
              <a:rPr lang="en-US" sz="6000" dirty="0">
                <a:solidFill>
                  <a:srgbClr val="002060"/>
                </a:solidFill>
                <a:latin typeface="Gibson"/>
              </a:rPr>
              <a:t>GoosePlayer is built with Java 17 and Maven.</a:t>
            </a:r>
          </a:p>
          <a:p>
            <a:r>
              <a:rPr lang="en-US" sz="6000" dirty="0">
                <a:solidFill>
                  <a:srgbClr val="002060"/>
                </a:solidFill>
                <a:latin typeface="Gibson"/>
              </a:rPr>
              <a:t>Maven handles dependency management (</a:t>
            </a:r>
            <a:r>
              <a:rPr lang="en-US" sz="6000" dirty="0" err="1">
                <a:solidFill>
                  <a:srgbClr val="002060"/>
                </a:solidFill>
                <a:latin typeface="Gibson"/>
              </a:rPr>
              <a:t>FlatLaf</a:t>
            </a:r>
            <a:r>
              <a:rPr lang="en-US" sz="6000" dirty="0">
                <a:solidFill>
                  <a:srgbClr val="002060"/>
                </a:solidFill>
                <a:latin typeface="Gibson"/>
              </a:rPr>
              <a:t>, Beads, JAudioTagger, AssertJ-Swing, etc.), compilation, test execution, and packaging — all defined in a single pom.xml file.</a:t>
            </a:r>
          </a:p>
          <a:p>
            <a:pPr algn="ctr"/>
            <a:endParaRPr lang="en-US" sz="6000" dirty="0"/>
          </a:p>
        </p:txBody>
      </p:sp>
      <p:pic>
        <p:nvPicPr>
          <p:cNvPr id="28" name="Graphic 27">
            <a:extLst>
              <a:ext uri="{FF2B5EF4-FFF2-40B4-BE49-F238E27FC236}">
                <a16:creationId xmlns:a16="http://schemas.microsoft.com/office/drawing/2014/main" id="{5765BA4E-6614-C490-93D7-C15ECDB4F7A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43891200" cy="32982428"/>
          </a:xfrm>
          <a:prstGeom prst="rect">
            <a:avLst/>
          </a:prstGeom>
        </p:spPr>
      </p:pic>
      <p:sp>
        <p:nvSpPr>
          <p:cNvPr id="6" name="TextBox 5">
            <a:extLst>
              <a:ext uri="{FF2B5EF4-FFF2-40B4-BE49-F238E27FC236}">
                <a16:creationId xmlns:a16="http://schemas.microsoft.com/office/drawing/2014/main" id="{7920B259-A083-B454-A44F-83B5360B6101}"/>
              </a:ext>
            </a:extLst>
          </p:cNvPr>
          <p:cNvSpPr txBox="1"/>
          <p:nvPr/>
        </p:nvSpPr>
        <p:spPr>
          <a:xfrm>
            <a:off x="0" y="717168"/>
            <a:ext cx="43891200" cy="3600986"/>
          </a:xfrm>
          <a:prstGeom prst="rect">
            <a:avLst/>
          </a:prstGeom>
          <a:noFill/>
        </p:spPr>
        <p:txBody>
          <a:bodyPr wrap="square" rtlCol="0">
            <a:spAutoFit/>
          </a:bodyPr>
          <a:lstStyle/>
          <a:p>
            <a:pPr algn="ctr">
              <a:lnSpc>
                <a:spcPct val="100000"/>
              </a:lnSpc>
            </a:pPr>
            <a:r>
              <a:rPr lang="en-US" sz="12000" b="1" dirty="0">
                <a:solidFill>
                  <a:srgbClr val="FFFFFF"/>
                </a:solidFill>
                <a:latin typeface="Garamond" panose="02020404030301010803" pitchFamily="18" charset="0"/>
              </a:rPr>
              <a:t>GoosePlayer</a:t>
            </a:r>
            <a:endParaRPr lang="en-US" sz="7200" dirty="0">
              <a:latin typeface="Garamond" panose="02020404030301010803" pitchFamily="18" charset="0"/>
            </a:endParaRPr>
          </a:p>
          <a:p>
            <a:pPr algn="ctr">
              <a:lnSpc>
                <a:spcPct val="100000"/>
              </a:lnSpc>
            </a:pPr>
            <a:r>
              <a:rPr lang="en-US" sz="5400" b="1" dirty="0">
                <a:solidFill>
                  <a:srgbClr val="FFFFFF"/>
                </a:solidFill>
                <a:latin typeface="Garamond" panose="02020404030301010803" pitchFamily="18" charset="0"/>
              </a:rPr>
              <a:t>A CIS Capstone Project by Joshua Anderson and Camillus Settanni </a:t>
            </a:r>
            <a:endParaRPr lang="en-US" sz="5400" dirty="0">
              <a:latin typeface="Garamond" panose="02020404030301010803" pitchFamily="18" charset="0"/>
            </a:endParaRPr>
          </a:p>
          <a:p>
            <a:pPr algn="ctr">
              <a:lnSpc>
                <a:spcPct val="100000"/>
              </a:lnSpc>
            </a:pPr>
            <a:r>
              <a:rPr lang="en-US" sz="5400" b="1" dirty="0">
                <a:solidFill>
                  <a:srgbClr val="FFFFFF"/>
                </a:solidFill>
                <a:latin typeface="Garamond" panose="02020404030301010803" pitchFamily="18" charset="0"/>
              </a:rPr>
              <a:t>Washburn University 1700 SW College Ave. Topeka, KS 66621</a:t>
            </a:r>
            <a:endParaRPr lang="en-US" sz="5400" dirty="0">
              <a:latin typeface="Garamond" panose="02020404030301010803" pitchFamily="18" charset="0"/>
            </a:endParaRPr>
          </a:p>
        </p:txBody>
      </p:sp>
      <p:sp>
        <p:nvSpPr>
          <p:cNvPr id="2" name="Rectangle 1">
            <a:extLst>
              <a:ext uri="{FF2B5EF4-FFF2-40B4-BE49-F238E27FC236}">
                <a16:creationId xmlns:a16="http://schemas.microsoft.com/office/drawing/2014/main" id="{31B060D7-3AA0-D012-FBEE-4D9A0E568D82}"/>
              </a:ext>
            </a:extLst>
          </p:cNvPr>
          <p:cNvSpPr/>
          <p:nvPr/>
        </p:nvSpPr>
        <p:spPr>
          <a:xfrm>
            <a:off x="388117" y="6457884"/>
            <a:ext cx="16032066" cy="7995535"/>
          </a:xfrm>
          <a:prstGeom prst="rect">
            <a:avLst/>
          </a:prstGeom>
          <a:solidFill>
            <a:srgbClr val="002E5E"/>
          </a:solidFill>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sz="9600" dirty="0">
                <a:latin typeface="Gibson"/>
              </a:rPr>
              <a:t>Goal</a:t>
            </a:r>
          </a:p>
          <a:p>
            <a:r>
              <a:rPr lang="en-US" sz="6000" dirty="0">
                <a:latin typeface="Gibson"/>
              </a:rPr>
              <a:t>Our goal was to create a desktop music player application in Java capable of playing single or multiple tracks at the same time via local memory or external server for use in scenarios such as </a:t>
            </a:r>
            <a:r>
              <a:rPr lang="en-US" sz="6000" dirty="0" err="1">
                <a:latin typeface="Gibson"/>
              </a:rPr>
              <a:t>DnD</a:t>
            </a:r>
            <a:r>
              <a:rPr lang="en-US" sz="6000" dirty="0">
                <a:latin typeface="Gibson"/>
              </a:rPr>
              <a:t> or . We wanted the player to be customizable with optional themes and playback modes for users.</a:t>
            </a:r>
          </a:p>
        </p:txBody>
      </p:sp>
      <p:sp>
        <p:nvSpPr>
          <p:cNvPr id="5" name="Rectangle 4">
            <a:extLst>
              <a:ext uri="{FF2B5EF4-FFF2-40B4-BE49-F238E27FC236}">
                <a16:creationId xmlns:a16="http://schemas.microsoft.com/office/drawing/2014/main" id="{F265BEE9-26D3-66CB-166F-49350ABC26D6}"/>
              </a:ext>
            </a:extLst>
          </p:cNvPr>
          <p:cNvSpPr/>
          <p:nvPr/>
        </p:nvSpPr>
        <p:spPr>
          <a:xfrm>
            <a:off x="16808299" y="24203025"/>
            <a:ext cx="16501987" cy="7529907"/>
          </a:xfrm>
          <a:prstGeom prst="rect">
            <a:avLst/>
          </a:prstGeom>
          <a:solidFill>
            <a:srgbClr val="598DB6"/>
          </a:solidFill>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sz="9600" dirty="0">
                <a:latin typeface="Gibson"/>
              </a:rPr>
              <a:t>Key Challenges Overcome</a:t>
            </a:r>
          </a:p>
          <a:p>
            <a:pPr marL="857250" indent="-857250">
              <a:buFont typeface="Arial" panose="020B0604020202020204" pitchFamily="34" charset="0"/>
              <a:buChar char="•"/>
            </a:pPr>
            <a:r>
              <a:rPr lang="en-US" sz="6000" dirty="0">
                <a:latin typeface="Gibson"/>
              </a:rPr>
              <a:t>Achieving full multi-channel isolation with independent AudioContexts </a:t>
            </a:r>
          </a:p>
          <a:p>
            <a:pPr marL="857250" indent="-857250">
              <a:buFont typeface="Arial" panose="020B0604020202020204" pitchFamily="34" charset="0"/>
              <a:buChar char="•"/>
            </a:pPr>
            <a:r>
              <a:rPr lang="en-US" sz="6000" dirty="0">
                <a:latin typeface="Gibson"/>
              </a:rPr>
              <a:t>Testing complex drag-and-drop interactions across </a:t>
            </a:r>
            <a:r>
              <a:rPr lang="en-US" sz="6000" dirty="0" err="1">
                <a:latin typeface="Gibson"/>
              </a:rPr>
              <a:t>JTree</a:t>
            </a:r>
            <a:r>
              <a:rPr lang="en-US" sz="6000" dirty="0">
                <a:latin typeface="Gibson"/>
              </a:rPr>
              <a:t> components </a:t>
            </a:r>
          </a:p>
          <a:p>
            <a:pPr marL="857250" indent="-857250">
              <a:buFont typeface="Arial" panose="020B0604020202020204" pitchFamily="34" charset="0"/>
              <a:buChar char="•"/>
            </a:pPr>
            <a:r>
              <a:rPr lang="en-US" sz="6000" dirty="0">
                <a:latin typeface="Gibson"/>
              </a:rPr>
              <a:t>Implementing a custom </a:t>
            </a:r>
            <a:r>
              <a:rPr lang="en-US" sz="6000" dirty="0" err="1">
                <a:latin typeface="Gibson"/>
              </a:rPr>
              <a:t>AudioPlayerSpy</a:t>
            </a:r>
            <a:r>
              <a:rPr lang="en-US" sz="6000" dirty="0">
                <a:latin typeface="Gibson"/>
              </a:rPr>
              <a:t> to count real method calls while playing actual audio</a:t>
            </a:r>
          </a:p>
        </p:txBody>
      </p:sp>
      <p:pic>
        <p:nvPicPr>
          <p:cNvPr id="20" name="Picture 19">
            <a:extLst>
              <a:ext uri="{FF2B5EF4-FFF2-40B4-BE49-F238E27FC236}">
                <a16:creationId xmlns:a16="http://schemas.microsoft.com/office/drawing/2014/main" id="{72EAD363-FDFE-7B56-2D93-F09C149AE8EC}"/>
              </a:ext>
            </a:extLst>
          </p:cNvPr>
          <p:cNvPicPr>
            <a:picLocks noChangeAspect="1"/>
          </p:cNvPicPr>
          <p:nvPr/>
        </p:nvPicPr>
        <p:blipFill>
          <a:blip r:embed="rId5"/>
          <a:stretch>
            <a:fillRect/>
          </a:stretch>
        </p:blipFill>
        <p:spPr>
          <a:xfrm>
            <a:off x="17087851" y="7295161"/>
            <a:ext cx="16222436" cy="7158258"/>
          </a:xfrm>
          <a:prstGeom prst="rect">
            <a:avLst/>
          </a:prstGeom>
        </p:spPr>
      </p:pic>
      <p:sp>
        <p:nvSpPr>
          <p:cNvPr id="22" name="Rectangle 21">
            <a:extLst>
              <a:ext uri="{FF2B5EF4-FFF2-40B4-BE49-F238E27FC236}">
                <a16:creationId xmlns:a16="http://schemas.microsoft.com/office/drawing/2014/main" id="{67357EF5-C84F-95E9-35AF-3DB5A737D02E}"/>
              </a:ext>
            </a:extLst>
          </p:cNvPr>
          <p:cNvSpPr/>
          <p:nvPr/>
        </p:nvSpPr>
        <p:spPr>
          <a:xfrm>
            <a:off x="34004250" y="6457884"/>
            <a:ext cx="9498833" cy="9075761"/>
          </a:xfrm>
          <a:prstGeom prst="rect">
            <a:avLst/>
          </a:prstGeom>
          <a:solidFill>
            <a:srgbClr val="002E5E"/>
          </a:solidFill>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sz="9600" dirty="0">
                <a:latin typeface="Gibson"/>
              </a:rPr>
              <a:t>Future Features</a:t>
            </a:r>
          </a:p>
          <a:p>
            <a:r>
              <a:rPr lang="en-US" sz="6000" dirty="0">
                <a:latin typeface="Gibson"/>
              </a:rPr>
              <a:t>Future features planned for GoosePlayer include:</a:t>
            </a:r>
          </a:p>
          <a:p>
            <a:pPr marL="857250" indent="-857250">
              <a:buFont typeface="Arial" panose="020B0604020202020204" pitchFamily="34" charset="0"/>
              <a:buChar char="•"/>
            </a:pPr>
            <a:r>
              <a:rPr lang="en-US" sz="6000" dirty="0">
                <a:latin typeface="Gibson"/>
              </a:rPr>
              <a:t>Online Radio Support </a:t>
            </a:r>
          </a:p>
          <a:p>
            <a:pPr marL="857250" indent="-857250">
              <a:buFont typeface="Arial" panose="020B0604020202020204" pitchFamily="34" charset="0"/>
              <a:buChar char="•"/>
            </a:pPr>
            <a:r>
              <a:rPr lang="en-US" sz="6000" dirty="0">
                <a:latin typeface="Gibson"/>
              </a:rPr>
              <a:t>Playlist creation and deletion </a:t>
            </a:r>
          </a:p>
          <a:p>
            <a:pPr marL="857250" indent="-857250">
              <a:buFont typeface="Arial" panose="020B0604020202020204" pitchFamily="34" charset="0"/>
              <a:buChar char="•"/>
            </a:pPr>
            <a:r>
              <a:rPr lang="en-US" sz="6000" dirty="0">
                <a:latin typeface="Gibson"/>
              </a:rPr>
              <a:t>Audio visualizer / spectrum analyzer</a:t>
            </a:r>
          </a:p>
          <a:p>
            <a:pPr marL="857250" indent="-857250">
              <a:buFont typeface="Arial" panose="020B0604020202020204" pitchFamily="34" charset="0"/>
              <a:buChar char="•"/>
            </a:pPr>
            <a:r>
              <a:rPr lang="en-US" sz="6000" dirty="0">
                <a:latin typeface="Gibson"/>
              </a:rPr>
              <a:t>Library auto-scan </a:t>
            </a:r>
            <a:endParaRPr lang="en-US" sz="6000" dirty="0"/>
          </a:p>
        </p:txBody>
      </p:sp>
      <p:sp>
        <p:nvSpPr>
          <p:cNvPr id="23" name="Rectangle 22">
            <a:extLst>
              <a:ext uri="{FF2B5EF4-FFF2-40B4-BE49-F238E27FC236}">
                <a16:creationId xmlns:a16="http://schemas.microsoft.com/office/drawing/2014/main" id="{9728486E-FC0D-456C-3F9B-63BB6EB2F1A0}"/>
              </a:ext>
            </a:extLst>
          </p:cNvPr>
          <p:cNvSpPr/>
          <p:nvPr/>
        </p:nvSpPr>
        <p:spPr>
          <a:xfrm>
            <a:off x="34004250" y="15839769"/>
            <a:ext cx="9498833" cy="10620748"/>
          </a:xfrm>
          <a:prstGeom prst="rect">
            <a:avLst/>
          </a:prstGeom>
          <a:solidFill>
            <a:srgbClr val="B9CFE2"/>
          </a:solidFill>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sz="9600" dirty="0">
                <a:solidFill>
                  <a:srgbClr val="002060"/>
                </a:solidFill>
                <a:latin typeface="Gibson"/>
              </a:rPr>
              <a:t>Conclusion</a:t>
            </a:r>
          </a:p>
          <a:p>
            <a:r>
              <a:rPr lang="en-US" sz="6000" dirty="0">
                <a:solidFill>
                  <a:srgbClr val="002060"/>
                </a:solidFill>
                <a:latin typeface="Gibson"/>
              </a:rPr>
              <a:t>Despite lacking prior knowledge of the various core components of GoosePlayer, such as Maven or the dependencies it handles. We successfully created GoosePlayer with its three player modes of Monochannel, Multichannel, and Radio(local).</a:t>
            </a:r>
            <a:endParaRPr lang="en-US" sz="6000" dirty="0"/>
          </a:p>
        </p:txBody>
      </p:sp>
      <p:sp>
        <p:nvSpPr>
          <p:cNvPr id="24" name="TextBox 23">
            <a:extLst>
              <a:ext uri="{FF2B5EF4-FFF2-40B4-BE49-F238E27FC236}">
                <a16:creationId xmlns:a16="http://schemas.microsoft.com/office/drawing/2014/main" id="{792BC9ED-526F-246C-4C93-C280BF6052BA}"/>
              </a:ext>
            </a:extLst>
          </p:cNvPr>
          <p:cNvSpPr txBox="1"/>
          <p:nvPr/>
        </p:nvSpPr>
        <p:spPr>
          <a:xfrm>
            <a:off x="17087851" y="6279497"/>
            <a:ext cx="16222435" cy="1015663"/>
          </a:xfrm>
          <a:prstGeom prst="rect">
            <a:avLst/>
          </a:prstGeom>
          <a:noFill/>
        </p:spPr>
        <p:txBody>
          <a:bodyPr wrap="square" rtlCol="0">
            <a:spAutoFit/>
          </a:bodyPr>
          <a:lstStyle/>
          <a:p>
            <a:pPr algn="ctr"/>
            <a:r>
              <a:rPr lang="en-US" sz="6000" dirty="0">
                <a:latin typeface="Gibson"/>
              </a:rPr>
              <a:t>Finished GoosePlayer UI</a:t>
            </a:r>
          </a:p>
        </p:txBody>
      </p:sp>
      <p:pic>
        <p:nvPicPr>
          <p:cNvPr id="26" name="Picture 25">
            <a:extLst>
              <a:ext uri="{FF2B5EF4-FFF2-40B4-BE49-F238E27FC236}">
                <a16:creationId xmlns:a16="http://schemas.microsoft.com/office/drawing/2014/main" id="{056A307D-A58F-E1A2-8E10-2958F74D99DF}"/>
              </a:ext>
            </a:extLst>
          </p:cNvPr>
          <p:cNvPicPr>
            <a:picLocks noChangeAspect="1"/>
          </p:cNvPicPr>
          <p:nvPr/>
        </p:nvPicPr>
        <p:blipFill>
          <a:blip r:embed="rId6"/>
          <a:stretch>
            <a:fillRect/>
          </a:stretch>
        </p:blipFill>
        <p:spPr>
          <a:xfrm>
            <a:off x="34004250" y="26778739"/>
            <a:ext cx="9498833" cy="4954193"/>
          </a:xfrm>
          <a:prstGeom prst="rect">
            <a:avLst/>
          </a:prstGeom>
        </p:spPr>
      </p:pic>
    </p:spTree>
    <p:extLst>
      <p:ext uri="{BB962C8B-B14F-4D97-AF65-F5344CB8AC3E}">
        <p14:creationId xmlns:p14="http://schemas.microsoft.com/office/powerpoint/2010/main" val="344498378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1900</TotalTime>
  <Words>319</Words>
  <Application>Microsoft Office PowerPoint</Application>
  <PresentationFormat>Custom</PresentationFormat>
  <Paragraphs>29</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Aptos</vt:lpstr>
      <vt:lpstr>Aptos Display</vt:lpstr>
      <vt:lpstr>Arial</vt:lpstr>
      <vt:lpstr>Garamond</vt:lpstr>
      <vt:lpstr>Gibson</vt:lpstr>
      <vt:lpstr>Office Theme</vt:lpstr>
      <vt:lpstr>PowerPoint Presentation</vt:lpstr>
    </vt:vector>
  </TitlesOfParts>
  <Company>Washburn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Velde</dc:creator>
  <cp:lastModifiedBy>Camillus Settanni</cp:lastModifiedBy>
  <cp:revision>14</cp:revision>
  <dcterms:created xsi:type="dcterms:W3CDTF">2024-10-07T14:45:34Z</dcterms:created>
  <dcterms:modified xsi:type="dcterms:W3CDTF">2025-12-03T21:22:40Z</dcterms:modified>
</cp:coreProperties>
</file>